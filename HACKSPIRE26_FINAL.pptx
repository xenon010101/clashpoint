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1ee72bef54cc5" /><Relationship Type="http://schemas.openxmlformats.org/officeDocument/2006/relationships/extended-properties" Target="/docProps/app.xml" Id="Re4130ba0ca7745d1" /><Relationship Type="http://schemas.openxmlformats.org/officeDocument/2006/relationships/officeDocument" Target="/ppt/presentation.xml" Id="R17eb58a4d6e14e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a25df824174199"/>
  </p:sldMasterIdLst>
  <p:notesMasterIdLst>
    <p:notesMasterId xmlns:r="http://schemas.openxmlformats.org/officeDocument/2006/relationships" r:id="Reb41197043764be0"/>
  </p:notesMasterIdLst>
  <p:sldIdLst>
    <p:sldId xmlns:r="http://schemas.openxmlformats.org/officeDocument/2006/relationships" id="256" r:id="R5523dbe7e0ce481f"/>
    <p:sldId xmlns:r="http://schemas.openxmlformats.org/officeDocument/2006/relationships" id="257" r:id="Rb52828549b7841ee"/>
    <p:sldId xmlns:r="http://schemas.openxmlformats.org/officeDocument/2006/relationships" id="258" r:id="R9678dc9710eb4e41"/>
    <p:sldId xmlns:r="http://schemas.openxmlformats.org/officeDocument/2006/relationships" id="259" r:id="R85151c7a5f374405"/>
    <p:sldId xmlns:r="http://schemas.openxmlformats.org/officeDocument/2006/relationships" id="260" r:id="R9010b78a6f4f4daf"/>
    <p:sldId xmlns:r="http://schemas.openxmlformats.org/officeDocument/2006/relationships" id="261" r:id="Ra100c0e99e00465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aeb27352904f82" /><Relationship Type="http://schemas.openxmlformats.org/officeDocument/2006/relationships/slideMaster" Target="/ppt/slideMasters/slideMaster1.xml" Id="R5da25df824174199" /><Relationship Type="http://schemas.openxmlformats.org/officeDocument/2006/relationships/notesMaster" Target="/ppt/notesMasters/notesMaster1.xml" Id="Reb41197043764be0" /><Relationship Type="http://schemas.openxmlformats.org/officeDocument/2006/relationships/presProps" Target="/ppt/presProps.xml" Id="R803457cea5034e98" /><Relationship Type="http://schemas.openxmlformats.org/officeDocument/2006/relationships/tableStyles" Target="/ppt/tableStyles.xml" Id="Rf015d529b81a4bf3" /><Relationship Type="http://schemas.openxmlformats.org/officeDocument/2006/relationships/slide" Target="/ppt/slides/slide1.xml" Id="R5523dbe7e0ce481f" /><Relationship Type="http://schemas.openxmlformats.org/officeDocument/2006/relationships/slide" Target="/ppt/slides/slide2.xml" Id="Rb52828549b7841ee" /><Relationship Type="http://schemas.openxmlformats.org/officeDocument/2006/relationships/slide" Target="/ppt/slides/slide3.xml" Id="R9678dc9710eb4e41" /><Relationship Type="http://schemas.openxmlformats.org/officeDocument/2006/relationships/slide" Target="/ppt/slides/slide4.xml" Id="R85151c7a5f374405" /><Relationship Type="http://schemas.openxmlformats.org/officeDocument/2006/relationships/slide" Target="/ppt/slides/slide5.xml" Id="R9010b78a6f4f4daf" /><Relationship Type="http://schemas.openxmlformats.org/officeDocument/2006/relationships/slide" Target="/ppt/slides/slide6.xml" Id="Ra100c0e99e0046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25f25bfb0748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3bb0daae14468" /><Relationship Type="http://schemas.openxmlformats.org/officeDocument/2006/relationships/notesMaster" Target="/ppt/notesMasters/notesMaster1.xml" Id="R480410d92bf44a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aee81761a34a40" /><Relationship Type="http://schemas.openxmlformats.org/officeDocument/2006/relationships/notesMaster" Target="/ppt/notesMasters/notesMaster1.xml" Id="R852e48e84de044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dc43e396ce44c5" /><Relationship Type="http://schemas.openxmlformats.org/officeDocument/2006/relationships/notesMaster" Target="/ppt/notesMasters/notesMaster1.xml" Id="R5c1f13b0514b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46018c6d54e2a" /><Relationship Type="http://schemas.openxmlformats.org/officeDocument/2006/relationships/notesMaster" Target="/ppt/notesMasters/notesMaster1.xml" Id="Rb55d3bf849424d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3723b0685541a2" /><Relationship Type="http://schemas.openxmlformats.org/officeDocument/2006/relationships/notesMaster" Target="/ppt/notesMasters/notesMaster1.xml" Id="R4189176067d040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052e3beacc4653" /><Relationship Type="http://schemas.openxmlformats.org/officeDocument/2006/relationships/notesMaster" Target="/ppt/notesMasters/notesMaster1.xml" Id="R23484c62495c4e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 URLs:</a:t>
            </a:r>
          </a:p>
          <a:p xmlns:a="http://schemas.openxmlformats.org/drawingml/2006/main">
            <a:r>
              <a:t>Clark &amp; Brennan: https://www.cs.cmu.edu/~illah/CLASSDOCS/Clark91.pdf</a:t>
            </a:r>
          </a:p>
          <a:p xmlns:a="http://schemas.openxmlformats.org/drawingml/2006/main">
            <a:r>
              <a:t>MDN SpeechRecognition: https://developer.mozilla.org/en-US/docs/Web/API/SpeechRecognition</a:t>
            </a:r>
          </a:p>
          <a:p xmlns:a="http://schemas.openxmlformats.org/drawingml/2006/main">
            <a:r>
              <a:t>Next.js Route Handlers: https://nextjs.org/docs/app/getting-started/route-handlers</a:t>
            </a:r>
          </a:p>
          <a:p xmlns:a="http://schemas.openxmlformats.org/drawingml/2006/main">
            <a:r>
              <a:t>Private ClashPoint repository: https://github.com/Xenon010101/ClashPoint/tree/d3db372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f406af217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5d860ed5014b37" /><Relationship Type="http://schemas.openxmlformats.org/officeDocument/2006/relationships/slideLayout" Target="/ppt/slideLayouts/slideLayout1.xml" Id="Rcc56ca07edae45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6ca07edae45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81505f1c441d1" /><Relationship Type="http://schemas.openxmlformats.org/officeDocument/2006/relationships/image" Target="/ppt/media/image.png" Id="R9fc1d40d57d547a4" /><Relationship Type="http://schemas.openxmlformats.org/officeDocument/2006/relationships/image" Target="/ppt/media/image2.png" Id="Re3f785c97f084f89" /><Relationship Type="http://schemas.openxmlformats.org/officeDocument/2006/relationships/notesSlide" Target="/ppt/notesSlides/notesSlide1.xml" Id="R89b689f2bcf242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883a8b5c7474f" /><Relationship Type="http://schemas.openxmlformats.org/officeDocument/2006/relationships/image" Target="/ppt/media/image3.png" Id="R11e7f75fa5ca419d" /><Relationship Type="http://schemas.openxmlformats.org/officeDocument/2006/relationships/notesSlide" Target="/ppt/notesSlides/notesSlide2.xml" Id="Rd901bb6bcb8440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a0270f84d43d5" /><Relationship Type="http://schemas.openxmlformats.org/officeDocument/2006/relationships/image" Target="/ppt/media/image4.png" Id="R1c40305e6d8440f1" /><Relationship Type="http://schemas.openxmlformats.org/officeDocument/2006/relationships/notesSlide" Target="/ppt/notesSlides/notesSlide3.xml" Id="Ra5f56469c4ed49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e31d83b64495a" /><Relationship Type="http://schemas.openxmlformats.org/officeDocument/2006/relationships/image" Target="/ppt/media/image5.png" Id="Rd154c8ccc6094da0" /><Relationship Type="http://schemas.openxmlformats.org/officeDocument/2006/relationships/notesSlide" Target="/ppt/notesSlides/notesSlide4.xml" Id="R2381a6ebbfe747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b68fd7a5c47b0" /><Relationship Type="http://schemas.openxmlformats.org/officeDocument/2006/relationships/image" Target="/ppt/media/image6.png" Id="Re42fdaa45c684d94" /><Relationship Type="http://schemas.openxmlformats.org/officeDocument/2006/relationships/notesSlide" Target="/ppt/notesSlides/notesSlide5.xml" Id="R2e1c6e1b72c145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29561032a47cc" /><Relationship Type="http://schemas.openxmlformats.org/officeDocument/2006/relationships/image" Target="/ppt/media/image7.png" Id="R059eac7d27c24d72" /><Relationship Type="http://schemas.openxmlformats.org/officeDocument/2006/relationships/hyperlink" Target="https://www.cs.cmu.edu/~illah/CLASSDOCS/Clark91.pdf" TargetMode="External" Id="R1c8bfa4037794469" /><Relationship Type="http://schemas.openxmlformats.org/officeDocument/2006/relationships/hyperlink" Target="https://developer.mozilla.org/en-US/docs/Web/API/SpeechRecognition" TargetMode="External" Id="Rfd5f66dc5c8a4951" /><Relationship Type="http://schemas.openxmlformats.org/officeDocument/2006/relationships/hyperlink" Target="https://nextjs.org/docs/app/getting-started/route-handlers" TargetMode="External" Id="Ra8648a19019b4812" /><Relationship Type="http://schemas.openxmlformats.org/officeDocument/2006/relationships/hyperlink" Target="https://github.com/Xenon010101/ClashPoint/tree/d3db372" TargetMode="External" Id="R5a9b0d85a2604f2f" /><Relationship Type="http://schemas.openxmlformats.org/officeDocument/2006/relationships/notesSlide" Target="/ppt/notesSlides/notesSlide6.xml" Id="R90fcbad04e9644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95B0E-DC54-4C1C-8123-B4A27BEB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defRPr>
            </a:pPr>
            <a:r>
              <a: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rPr>
              <a:t>HACKSPIRE |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9759E-4139-4DA0-B3DF-3E57174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8297F-25F4-4D9D-B63C-AA78A79E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87424-4230-439B-84A9-5622AD77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A4B8C-6DC9-49A8-96DA-9B90A4F6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BB211-E045-4BA5-B53E-AB7BBF1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D605F-D3F3-4658-95D6-036B0CA9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34C52-9095-424A-A9E1-EE81237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AE97E-A830-4BA3-AC6E-D577C201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12395-098C-4FDC-8FC9-C9198B7D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39300"/>
            <a:ext cx="18288000" cy="647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0033"/>
              </a:gs>
              <a:gs pos="50000">
                <a:srgbClr val="6A18FF"/>
              </a:gs>
              <a:gs pos="100000">
                <a:srgbClr val="21004A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B1851-A2E5-4B25-9657-F9158EFE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6964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hackspire.tech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E241E-1DDF-4177-B614-DA8A20C6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6964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3A7D4-0B6D-4878-9961-525DE0C3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66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2027"/>
          </a:solidFill>
          <a:ln xmlns:a="http://schemas.openxmlformats.org/drawingml/2006/main" w="9525">
            <a:solidFill>
              <a:srgbClr val="202027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1d40d57d547a4"/>
          <a:stretch xmlns:a="http://schemas.openxmlformats.org/drawingml/2006/main"/>
        </p:blipFill>
        <p:spPr>
          <a:xfrm xmlns:a="http://schemas.openxmlformats.org/drawingml/2006/main">
            <a:off x="704850" y="3143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D9160-558F-4739-9917-8DAD14FF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CLASHPOINT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89FAE-0A4A-494D-A1AE-737A1AA8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0" b="0" i="0">
                <a:solidFill>
                  <a:srgbClr val="35128F"/>
                </a:solidFill>
                <a:latin typeface="Georgia"/>
                <a:ea typeface="Georgia"/>
                <a:cs typeface="Georgia"/>
              </a:defRPr>
            </a:pPr>
            <a:r>
              <a:rPr sz="6900" b="0" i="0">
                <a:solidFill>
                  <a:srgbClr val="35128F"/>
                </a:solidFill>
                <a:latin typeface="Georgia"/>
                <a:ea typeface="Georgia"/>
                <a:cs typeface="Georgia"/>
              </a:rPr>
              <a:t>CLASHPOINT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54F68-41EE-4222-AF86-6DC3E19E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432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85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Checks product-team decisions against recorded facts during meetings.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A491D-01D7-4A98-97F8-FCC5EA45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2C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748C0-95A4-4D88-83A2-91ABD159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TEAM NAME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5527E-7815-4C0D-9ACB-909548F2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4345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Team ClashPoint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C3C79-7760-4EDC-8F62-081B3E17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244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030C9-0C15-4BEA-8081-DFD161D4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435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THEME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38808-420E-4F5E-8CEE-6BF01380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245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AI for Workplace Productivity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AB3C3-17CB-4F44-8F51-63F45EBB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1055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AEA2FA-3054-4365-A8F8-6B5F6979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246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E87E8-12AF-497E-86EB-D88FE036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0555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Detecting Conflicting Decisions During Product Meetings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1E4744-C6B8-47FD-A804-71A6C25B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865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122186-CC23-476F-9B07-6BE9CF0D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056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PS CATEGORY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E8AC5-28B9-4692-8172-4D27B80F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0866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Software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C02D3F-35ED-4541-A599-70EEB61E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762250"/>
            <a:ext cx="2857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02027"/>
          </a:solidFill>
          <a:ln xmlns:a="http://schemas.openxmlformats.org/drawingml/2006/main" w="9525">
            <a:solidFill>
              <a:srgbClr val="202027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785c97f084f89"/>
          <a:stretch xmlns:a="http://schemas.openxmlformats.org/drawingml/2006/main"/>
        </p:blipFill>
        <p:spPr>
          <a:xfrm xmlns:a="http://schemas.openxmlformats.org/drawingml/2006/main">
            <a:off x="13716000" y="323850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A1675-47FD-47BA-A63E-415E388B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000750"/>
            <a:ext cx="2857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9525">
            <a:solidFill>
              <a:srgbClr val="E9E0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WORKING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</p:spTree>
    <p:extLst>
      <p:ext uri="{BB962C8B-B14F-4D97-AF65-F5344CB8AC3E}">
        <p14:creationId xmlns:p14="http://schemas.microsoft.com/office/powerpoint/2010/main" val="1129324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E2600E-B4A9-45A1-AEC2-BCFE6C8D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defRPr>
            </a:pPr>
            <a:r>
              <a: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rPr>
              <a:t>HACKSPIRE |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1F634-2A6C-45CA-AD22-8BFC60F0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F0D42-B544-47F9-8956-1FA8987A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5D3DE-EBAA-4B90-B434-31BD666D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ACCCA-816F-4B21-8092-8EACE9A7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7929D-710C-4783-8900-7F4F01F8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CDC36-09BF-4C01-8A83-10E1CF3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44DC7-69EE-42E6-91B7-C139D5FD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18A90-EBF7-408F-BEDD-7B878C5B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4F936-3589-4DC1-A806-99189AA1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39300"/>
            <a:ext cx="18288000" cy="647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0033"/>
              </a:gs>
              <a:gs pos="50000">
                <a:srgbClr val="6A18FF"/>
              </a:gs>
              <a:gs pos="100000">
                <a:srgbClr val="21004A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FF692-F9F7-4D87-8492-CB69CAF9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6964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hackspire.tech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8EB70-9680-4228-84C1-AA712144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6964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D9974-8966-42AB-8C29-0F6E8356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66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2027"/>
          </a:solidFill>
          <a:ln xmlns:a="http://schemas.openxmlformats.org/drawingml/2006/main" w="9525">
            <a:solidFill>
              <a:srgbClr val="202027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7f75fa5ca419d"/>
          <a:stretch xmlns:a="http://schemas.openxmlformats.org/drawingml/2006/main"/>
        </p:blipFill>
        <p:spPr>
          <a:xfrm xmlns:a="http://schemas.openxmlformats.org/drawingml/2006/main">
            <a:off x="704850" y="3143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2749B-63F0-405B-9BB8-9B2FFDB5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CLASHPOINT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5E1F7-3224-4E70-845A-DF4BDE39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81125"/>
            <a:ext cx="1533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defRPr>
            </a:pPr>
            <a:r>
              <a: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rPr>
              <a:t>IDEA / PROPOSED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37063-4E25-4B7A-B1BA-5381AEAC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4476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AF9FC"/>
          </a:solidFill>
          <a:ln xmlns:a="http://schemas.openxmlformats.org/drawingml/2006/main" w="14288">
            <a:solidFill>
              <a:srgbClr val="D9D3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7ECC0-72C5-4D55-A759-E9E0CBC3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01 · MEETING STATEMENT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A0A94-CC5F-4AFC-B9D9-DEA371FB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4019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“Are all the Acme blockers cleared?”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“Yeah.”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68A03-53E4-4DBC-BE03-5CCF8371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4476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14288">
            <a:solidFill>
              <a:srgbClr val="5B2C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838FA-A881-48E8-8592-E72619EE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02 · CLASHPOINT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0A480-A17E-427E-8BF0-626662D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8550"/>
            <a:ext cx="4019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Resolve the reply using the preceding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Compare the resulting claim with authorized project facts.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A6CDD-7979-4B7D-ABBF-5CE57DE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905125"/>
            <a:ext cx="4476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28575">
            <a:solidFill>
              <a:srgbClr val="D746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F3FDD-AA57-4E88-A9B8-A8193D0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143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D7464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D74646"/>
                </a:solidFill>
                <a:latin typeface="Aptos"/>
                <a:ea typeface="Aptos"/>
                <a:cs typeface="Aptos"/>
              </a:rPr>
              <a:t>03 · EVIDENCE-BACKED WARNING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8AC013-15BD-477F-9B57-296E6A7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638550"/>
            <a:ext cx="4019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“SSO release is blocked by Auth Refactor. GH-42 remains open.”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Inspect the source before confirming release readiness.</a:t>
            </a:r>
          </a:p>
        </p:txBody>
      </p:sp>
      <p:cxnSp>
        <p:nvCxnSpPr>
          <p:cNvPr id="66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715000" y="4619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2CD9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953750" y="4619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D74646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D6A5E9-4C61-40E3-AEA0-63981A62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294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2C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467268-8250-4D0F-BD9F-2968B09A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1628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CONTEXT-AWARE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A2DA7E-CC2C-465D-B4BA-09E2485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59142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Resolves short replies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9855FD-9875-4796-8AE8-6A65738E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0294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2C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3126D6-F349-4B74-88EF-186C5C4B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1628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TRACEABLE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A4A886-FADB-439E-805D-F858B288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59142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Exact stored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311754-5E50-4C20-AE3F-EAC6CB14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0294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46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7D36B8-AE72-44E4-BD26-492E2FC0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1628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PROPORTIONATE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E17610-112F-4854-B182-566129DE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59142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Warnings vs conflicts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9322B-5ABF-48D1-A758-32D1681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70294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2C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0A375F-D3B1-4271-9841-46F0BF54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71628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HUMAN-CONTROLLED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165777-3538-4251-A36A-552BAB67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7591425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Inspect or dismiss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A373FE-8087-4CAC-A1B9-0D68420D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391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1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725" b="0" i="1">
                <a:solidFill>
                  <a:srgbClr val="6D6878"/>
                </a:solidFill>
                <a:latin typeface="Aptos"/>
                <a:ea typeface="Aptos"/>
                <a:cs typeface="Aptos"/>
              </a:rPr>
              <a:t>Example uses seeded demo data.</a:t>
            </a:r>
          </a:p>
        </p:txBody>
      </p:sp>
    </p:spTree>
    <p:extLst>
      <p:ext uri="{BB962C8B-B14F-4D97-AF65-F5344CB8AC3E}">
        <p14:creationId xmlns:p14="http://schemas.microsoft.com/office/powerpoint/2010/main" val="1595132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85ED89-F802-4317-B0C5-D3D9D2B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defRPr>
            </a:pPr>
            <a:r>
              <a: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rPr>
              <a:t>HACKSPIRE |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0F3CF-624A-41D8-A04E-55F27A42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90C6-DF1D-43B0-B126-54B18DB8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5AED1-76B9-45C0-AD2A-940ED990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C8BAA-5860-47F7-96D4-1F8B2DE6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72651-3060-4E81-9FCE-7C325184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E24FB-79EE-4844-904B-350F8765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3189A-39B6-4D40-99D5-08CBC259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05C40-31A7-4C62-9AE3-4C3E6A52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DA222-0612-44B1-A5D0-F3F27804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39300"/>
            <a:ext cx="18288000" cy="647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0033"/>
              </a:gs>
              <a:gs pos="50000">
                <a:srgbClr val="6A18FF"/>
              </a:gs>
              <a:gs pos="100000">
                <a:srgbClr val="21004A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74FC3-74CA-4405-9A55-9998F77C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6964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hackspire.tech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D3A46-29D5-4583-A09A-C2702E4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6964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3B290-E543-4910-B061-0BFF2762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66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2027"/>
          </a:solidFill>
          <a:ln xmlns:a="http://schemas.openxmlformats.org/drawingml/2006/main" w="9525">
            <a:solidFill>
              <a:srgbClr val="202027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0305e6d8440f1"/>
          <a:stretch xmlns:a="http://schemas.openxmlformats.org/drawingml/2006/main"/>
        </p:blipFill>
        <p:spPr>
          <a:xfrm xmlns:a="http://schemas.openxmlformats.org/drawingml/2006/main">
            <a:off x="704850" y="3143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88D53-73A6-43B0-B606-F6FE43B0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CLASHPOINT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9A1C6-A5ED-428A-A0AB-A4FCEE34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81125"/>
            <a:ext cx="1533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defRPr>
            </a:pPr>
            <a:r>
              <a: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rPr>
              <a:t>TECHNICAL APPROACH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C2367-4FFC-4E86-96FD-12621B03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8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76212-3125-40E5-9C07-70150301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9875"/>
            <a:ext cx="15621000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AF9FC"/>
          </a:solidFill>
          <a:ln xmlns:a="http://schemas.openxmlformats.org/drawingml/2006/main" w="14288">
            <a:solidFill>
              <a:srgbClr val="D9D3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E2BB9-3229-4259-B747-603F247E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718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796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Next.js · React · TypeScript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D69EB-CF60-4620-B6A4-467D520B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851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Script · Typed turn · Browser speech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C823F-08F3-4C6F-AA74-ACBE40FE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9718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9144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0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Final turn + up to 8 recent turns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4F3F4-51D5-467B-A9CF-CC10CD8D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333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5128F"/>
          </a:solidFill>
          <a:ln xmlns:a="http://schemas.openxmlformats.org/drawingml/2006/main" w="9525">
            <a:solidFill>
              <a:srgbClr val="35128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CA022-5363-4273-A942-D4B36A2E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5292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 /api/analyze-turn  ·  Zod</a:t>
            </a:r>
          </a:p>
        </p:txBody>
      </p:sp>
      <p:cxnSp>
        <p:nvCxnSpPr>
          <p:cNvPr id="83" name=""/>
          <p:cNvCxnSpPr>
            <a:stCxn xmlns:a="http://schemas.openxmlformats.org/drawingml/2006/main" id="1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3000375" y="3810000"/>
            <a:ext cx="6143625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5B2CD9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2592F-4D07-4964-961F-22EE3C32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A4943-4772-44F8-BBF0-948F7E64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2143125" cy="1476375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D3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0E13A3-549C-4305-80F1-60B4B90D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91200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RESOLVE 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D7149-A718-49BA-93BF-BD5C1FD7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238875"/>
            <a:ext cx="1838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90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Deterministic conversation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C9A9D-4ED2-49EA-B6F0-061B90E4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619750"/>
            <a:ext cx="2143125" cy="1476375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D3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CC9480-258F-47CF-BD29-EE5E6B41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791200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836BD-BCF6-460B-8134-3EF7E946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238875"/>
            <a:ext cx="1838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90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Ignore · Quiet · Immediate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4E8401-8AC9-42E5-872F-D6B0221C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19750"/>
            <a:ext cx="2143125" cy="1476375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D3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A92E17-F6F7-453D-9D09-4A572D25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91200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FILTER + RETRIEVE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F265BB-FB25-4B06-9585-781034A8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238875"/>
            <a:ext cx="1838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875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Principal permissions · Active 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B22607-8D71-4EE5-9BD4-E8B9DEC6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619750"/>
            <a:ext cx="2143125" cy="1476375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D3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5A8A61-3769-489D-8401-4824A652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791200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CHECK CONFLICTS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069D7F-7445-4C25-B1B5-7A479F2C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6238875"/>
            <a:ext cx="1838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90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Status · dependency · capacity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9D8D01-B813-4912-97E5-D6F28F6B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619750"/>
            <a:ext cx="2143125" cy="1476375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D3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4D0D61-86E8-4AC0-8641-D683A960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791200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VERIFY 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11EB42-0257-4C46-ADC5-0F9786FA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238875"/>
            <a:ext cx="1838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90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Known fact IDs · exact quotes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518ADB-1AE8-446D-8EEC-1461CD75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5619750"/>
            <a:ext cx="2143125" cy="1476375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23813">
            <a:solidFill>
              <a:srgbClr val="5B2C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232EF8-52DF-48EC-86A1-7CAB0841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475" y="5791200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RETURN CARD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94663-9CB9-407B-9AE0-BA445357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238875"/>
            <a:ext cx="1838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90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Warning / conflict · safer wording</a:t>
            </a:r>
          </a:p>
        </p:txBody>
      </p:sp>
      <p:cxnSp>
        <p:nvCxnSpPr>
          <p:cNvPr id="103" name=""/>
          <p:cNvCxnSpPr>
            <a:stCxn xmlns:a="http://schemas.openxmlformats.org/drawingml/2006/main" id="2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2405063" y="4895850"/>
            <a:ext cx="595313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5B2CD9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476625" y="63579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2CD9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000750" y="63579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2CD9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8524875" y="63579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2CD9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1049000" y="63579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2CD9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3573125" y="63579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2CD9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45269B-AA39-44D1-BAAA-CF629B3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14800"/>
            <a:ext cx="3190875" cy="10001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6D6878"/>
            </a:solidFill>
            <a:prstDash val="dash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E82544-62F7-481E-AFB6-3097E76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48150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73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OPTIONAL GEMINI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5D8E5D-C455-43CF-BF90-AB1CF9F3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72000"/>
            <a:ext cx="280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717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Unfamiliar phrasing only · disabled by default</a:t>
            </a:r>
          </a:p>
        </p:txBody>
      </p:sp>
      <p:cxnSp>
        <p:nvCxnSpPr>
          <p:cNvPr id="112" name=""/>
          <p:cNvCxnSpPr>
            <a:stCxn xmlns:a="http://schemas.openxmlformats.org/drawingml/2006/main" id="50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2405063" y="5114925"/>
            <a:ext cx="3905250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6D6878"/>
            </a:solidFill>
            <a:prstDash val="dash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4FCA54-608A-402B-8DB6-C8D0BAF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715250"/>
            <a:ext cx="4095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AF9FC"/>
          </a:solidFill>
          <a:ln xmlns:a="http://schemas.openxmlformats.org/drawingml/2006/main" w="14288">
            <a:solidFill>
              <a:srgbClr val="D9D3E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3C70AE-8898-43FA-BB30-83A7099E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58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SERVER FIXTURE STORE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23EA58-4FB8-43AC-9FCB-E7A23402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2010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624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GitHub · Notion · Capacity policy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Seeded data · no database</a:t>
            </a:r>
          </a:p>
        </p:txBody>
      </p:sp>
      <p:cxnSp>
        <p:nvCxnSpPr>
          <p:cNvPr id="116" name=""/>
          <p:cNvCxnSpPr>
            <a:stCxn xmlns:a="http://schemas.openxmlformats.org/drawingml/2006/main" id="54" idx="0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H="1" flipV="1">
            <a:off x="7453313" y="7096125"/>
            <a:ext cx="881063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D6878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681FF7-5AB9-4A74-8B4D-425F63A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7524750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E6"/>
            </a:solidFill>
            <a:prstDash val="dash"/>
          </a:ln>
        </p:spPr>
        <p:txBody>
          <a:bodyPr xmlns:a="http://schemas.openxmlformats.org/drawingml/2006/main" wrap="square" lIns="95250" tIns="76200" rIns="95250" bIns="76200" anchor="t">
            <a:normAutofit fontScale="796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IGNORE → terminate without collision check</a:t>
            </a:r>
          </a:p>
        </p:txBody>
      </p:sp>
      <p:cxnSp>
        <p:nvCxnSpPr>
          <p:cNvPr id="118" name=""/>
          <p:cNvCxnSpPr>
            <a:stCxn xmlns:a="http://schemas.openxmlformats.org/drawingml/2006/main" id="29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 flipH="1">
            <a:off x="4857750" y="7096125"/>
            <a:ext cx="71438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6D6878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94401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04FDC5-AAA3-4FA0-8D8D-918713CF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defRPr>
            </a:pPr>
            <a:r>
              <a: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rPr>
              <a:t>HACKSPIRE |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6583D-D87E-4A58-BF2A-DF52B621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DE54D-B05B-4126-B268-D038A96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5FF9E-905D-42C2-8056-028D6E16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DE0DF-0870-40DD-B1C6-9DEEC47B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6EF56-5EB5-4B57-A8D5-6F66E98D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E4F18-D917-4B31-8CD5-9CCE3ECC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4EB50-373B-4BDA-A0C0-ACA07FB2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4FBBE-CE97-4966-9176-EA3B8A6D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6E06D-B622-4DC5-BC5D-5165018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39300"/>
            <a:ext cx="18288000" cy="647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0033"/>
              </a:gs>
              <a:gs pos="50000">
                <a:srgbClr val="6A18FF"/>
              </a:gs>
              <a:gs pos="100000">
                <a:srgbClr val="21004A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7B85A-1A6C-4FC2-8C0A-13C94423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6964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hackspire.tech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5A544-CC03-4660-88A1-47A813B5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6964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D5508-5FF9-4C56-BE85-6F61BAB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66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2027"/>
          </a:solidFill>
          <a:ln xmlns:a="http://schemas.openxmlformats.org/drawingml/2006/main" w="9525">
            <a:solidFill>
              <a:srgbClr val="202027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4c8ccc6094da0"/>
          <a:stretch xmlns:a="http://schemas.openxmlformats.org/drawingml/2006/main"/>
        </p:blipFill>
        <p:spPr>
          <a:xfrm xmlns:a="http://schemas.openxmlformats.org/drawingml/2006/main">
            <a:off x="704850" y="3143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407C7-918D-417A-9464-F00172F3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CLASHPOINT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DCFCF-CDFA-4B76-A1BE-68597E52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81125"/>
            <a:ext cx="1533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defRPr>
            </a:pPr>
            <a:r>
              <a: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rPr>
              <a:t>FEASIBILITY AND VIABILITY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807F9-D349-4368-9DC9-1985A48B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WORKING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FD0C6-3689-40C3-BAD9-F012897E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Local demo without Gemini credentials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75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Script, manual input, and evidence inspection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DF4B0-C8AA-4780-B8AD-86CFCF5C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3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1018B-98BC-448A-B468-5DE8C52B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981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250" b="0" i="0">
                <a:solidFill>
                  <a:srgbClr val="35128F"/>
                </a:solidFill>
                <a:latin typeface="Georgia"/>
                <a:ea typeface="Georgia"/>
                <a:cs typeface="Georgia"/>
              </a:defRPr>
            </a:pPr>
            <a:r>
              <a:rPr sz="5250" b="0" i="0">
                <a:solidFill>
                  <a:srgbClr val="35128F"/>
                </a:solidFill>
                <a:latin typeface="Georgia"/>
                <a:ea typeface="Georgia"/>
                <a:cs typeface="Georgia"/>
              </a:rPr>
              <a:t>41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1A794-8206-4BD5-9F10-773EA3EB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67375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AUTOMATED TESTS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PASSING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40822-317C-4856-89B9-872A985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6725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981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250" b="0" i="0">
                <a:solidFill>
                  <a:srgbClr val="35128F"/>
                </a:solidFill>
                <a:latin typeface="Georgia"/>
                <a:ea typeface="Georgia"/>
                <a:cs typeface="Georgia"/>
              </a:defRPr>
            </a:pPr>
            <a:r>
              <a:rPr sz="5250" b="0" i="0">
                <a:solidFill>
                  <a:srgbClr val="35128F"/>
                </a:solidFill>
                <a:latin typeface="Georgia"/>
                <a:ea typeface="Georgia"/>
                <a:cs typeface="Georgia"/>
              </a:rPr>
              <a:t>27/27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366BA-2B67-4126-B07A-DF5D4C01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67375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FROZEN DEMO CASES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PASSING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554244-9680-401E-A0E7-4457C30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675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AF9FC"/>
          </a:solidFill>
          <a:ln xmlns:a="http://schemas.openxmlformats.org/drawingml/2006/main" w="9525">
            <a:solidFill>
              <a:srgbClr val="D9D3E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1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725" b="0" i="1">
                <a:solidFill>
                  <a:srgbClr val="6D6878"/>
                </a:solidFill>
                <a:latin typeface="Aptos"/>
                <a:ea typeface="Aptos"/>
                <a:cs typeface="Aptos"/>
              </a:rPr>
              <a:t>Development fixtures — not an independent benchmark or real-world accuracy claim.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48405-D503-4E67-B32E-145BF3BD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RISK → RESPONSE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9F25B-D699-4A4C-A933-CEBD7EC3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A3945-37B0-4666-B0B4-BD15A4EB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003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CAD4D-66D3-47D5-BE02-C071F81B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2C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0AEF5-31DC-4A4E-BDD8-9298BCF7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Browser speech unavailable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A7546B-151A-4332-A08B-4A1E51EB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147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Use script or manual input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B9797-0BD7-4ACE-8E61-CB84F3C7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815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9B0B3-C05F-46E1-9014-537231E2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Ambiguous language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A593DC-AF70-443D-809F-3B58E888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Leave short references unresolved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ED23EF-4FE1-4446-839B-B60723F2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769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AEE94E-B0F1-4F4A-A637-84C2159A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Delayed responses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948AEB-84E9-4A0C-84BC-8801068A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90550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Cancel stale work on Pause, Stop, or Reset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B4DE59-C081-469C-91CC-082B47C1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77227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48345E-D917-43F7-9D0E-B1C3BC7A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00875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Limited source coverage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91D56A-2FE8-4456-8129-172AA27F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000875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Label fixtures and show exact 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442F3A-1A28-42A4-9AE2-61AA5F98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8676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2E369E-EB1A-4F47-9E7B-507B5A4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3437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1">
                <a:solidFill>
                  <a:srgbClr val="A86000"/>
                </a:solidFill>
                <a:latin typeface="Aptos"/>
                <a:ea typeface="Aptos"/>
                <a:cs typeface="Aptos"/>
              </a:defRPr>
            </a:pPr>
            <a:r>
              <a:rPr sz="1725" b="0" i="1">
                <a:solidFill>
                  <a:srgbClr val="A86000"/>
                </a:solidFill>
                <a:latin typeface="Aptos"/>
                <a:ea typeface="Aptos"/>
                <a:cs typeface="Aptos"/>
              </a:rPr>
              <a:t>Live microphone rehearsal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383918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ACEF53-9C8A-4C2A-B167-65647E71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defRPr>
            </a:pPr>
            <a:r>
              <a: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rPr>
              <a:t>HACKSPIRE |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22E15-6472-483D-BDD0-101B118F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7D1F8-23FE-4E3A-AFFB-A900E3B4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C92B9-9739-432B-B599-AA44EA88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F71EC-9370-475E-AC38-B5195C08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485B0-F924-427D-914C-7B99D7FC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A182B-C6DD-4812-9BB7-06F3A00F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69D14-8345-45D7-B886-4BE9AB33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7A6BE-B627-4F1E-A7AD-EB6A4466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504C1-F5A7-4FBC-A48F-080DE273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39300"/>
            <a:ext cx="18288000" cy="647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0033"/>
              </a:gs>
              <a:gs pos="50000">
                <a:srgbClr val="6A18FF"/>
              </a:gs>
              <a:gs pos="100000">
                <a:srgbClr val="21004A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D8755-981E-4F33-BC72-F2A4CD53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6964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hackspire.tech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E07C9-1D7F-417E-B100-745EDB2C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6964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E908F-7284-490D-BBFA-34E094FB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66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2027"/>
          </a:solidFill>
          <a:ln xmlns:a="http://schemas.openxmlformats.org/drawingml/2006/main" w="9525">
            <a:solidFill>
              <a:srgbClr val="202027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fdaa45c684d94"/>
          <a:stretch xmlns:a="http://schemas.openxmlformats.org/drawingml/2006/main"/>
        </p:blipFill>
        <p:spPr>
          <a:xfrm xmlns:a="http://schemas.openxmlformats.org/drawingml/2006/main">
            <a:off x="704850" y="3143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33695-F4DD-4F58-B02B-A050CD77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CLASHPOINT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CB200-A948-4656-A9F0-13FAE9F4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81125"/>
            <a:ext cx="1533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defRPr>
            </a:pPr>
            <a:r>
              <a: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rPr>
              <a:t>IMPACT AND BENEFITS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B5D57-F72A-4D91-8DB5-F7430683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72390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AF9FC"/>
          </a:solidFill>
          <a:ln xmlns:a="http://schemas.openxmlformats.org/drawingml/2006/main" w="14288">
            <a:solidFill>
              <a:srgbClr val="D9D3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C9F7E-7CFB-420B-A864-9BFCC009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57500"/>
            <a:ext cx="76200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0FF"/>
          </a:solidFill>
          <a:ln xmlns:a="http://schemas.openxmlformats.org/drawingml/2006/main" w="23813">
            <a:solidFill>
              <a:srgbClr val="5B2C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22477-973A-4947-99E8-0E4E3DC7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432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WITHOUT A SOURCE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9519C-D246-4498-AC8A-13E1D93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47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0" i="0">
                <a:solidFill>
                  <a:srgbClr val="17151D"/>
                </a:solidFill>
                <a:latin typeface="Georgia"/>
                <a:ea typeface="Georgia"/>
                <a:cs typeface="Georgia"/>
              </a:defRPr>
            </a:pPr>
            <a:r>
              <a:rPr sz="2925" b="0" i="0">
                <a:solidFill>
                  <a:srgbClr val="17151D"/>
                </a:solidFill>
                <a:latin typeface="Georgia"/>
                <a:ea typeface="Georgia"/>
                <a:cs typeface="Georgia"/>
              </a:rPr>
              <a:t>“Promise Feature X by Friday.”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D5618-0DF8-4297-B726-9B79E7F5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6250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6D6878"/>
                </a:solidFill>
                <a:latin typeface="Aptos"/>
                <a:ea typeface="Aptos"/>
                <a:cs typeface="Aptos"/>
              </a:rPr>
              <a:t>The commitment proceeds without checking the recorded approval requirement.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ADD72-30F8-41B3-B031-35A4739A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47625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WITH CLASHPOINT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DDDB2-1D85-4C25-8C5B-5430E0DC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67125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The promise triggers an evidence-backed conflict.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AB4CA-2330-4540-A019-C0BD7C59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52925"/>
            <a:ext cx="676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D74646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D74646"/>
                </a:solidFill>
                <a:latin typeface="Aptos"/>
                <a:ea typeface="Aptos"/>
                <a:cs typeface="Aptos"/>
              </a:rPr>
              <a:t>“Do not proceed with Feature X until the DPA update is approved.”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6C960-9463-41A6-B92C-2F886F5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768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SUGGESTED RESPONSE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D47C1F-B7E9-4649-8B0F-E96F7BB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8102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1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17151D"/>
                </a:solidFill>
                <a:latin typeface="Aptos"/>
                <a:ea typeface="Aptos"/>
                <a:cs typeface="Aptos"/>
              </a:rPr>
              <a:t>“We’re targeting Friday, pending final Legal approval.”</a:t>
            </a:r>
          </a:p>
        </p:txBody>
      </p: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24875" y="4762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B2CD9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884520-E37A-48AA-AECE-51AF636A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81875"/>
            <a:ext cx="461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2C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6B8AD-6AEC-4820-A6EE-F1D56967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524750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PRODUCT LEAD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4718CC-584F-4CC5-BED0-7746B2A5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934325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Qualify the customer commitment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F69DC2-6C4A-489C-A8D6-2BAB4D8F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381875"/>
            <a:ext cx="461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2C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938344-333B-48A3-88C7-29ACB3D9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524750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ENGINEERING LEAD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25373B-1E6E-4CF9-ABE0-69C2AE04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7934325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Review blockers and workload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BF1F59-1644-4679-A82A-089C025D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381875"/>
            <a:ext cx="461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2C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C07370-3504-4B4F-B867-FD10DD83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524750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28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5128F"/>
                </a:solidFill>
                <a:latin typeface="Aptos"/>
                <a:ea typeface="Aptos"/>
                <a:cs typeface="Aptos"/>
              </a:rPr>
              <a:t>APPROVAL OWNER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F9F8B1-858C-4AED-B7CB-BC990114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934325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Make prerequisites visible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978B4B-C3EA-4403-8EB7-37B224EB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4870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1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575" b="0" i="1">
                <a:solidFill>
                  <a:srgbClr val="6D6878"/>
                </a:solidFill>
                <a:latin typeface="Aptos"/>
                <a:ea typeface="Aptos"/>
                <a:cs typeface="Aptos"/>
              </a:rPr>
              <a:t>Illustrative scenario. Intended benefits; no measured business impact yet.</a:t>
            </a:r>
          </a:p>
        </p:txBody>
      </p:sp>
    </p:spTree>
    <p:extLst>
      <p:ext uri="{BB962C8B-B14F-4D97-AF65-F5344CB8AC3E}">
        <p14:creationId xmlns:p14="http://schemas.microsoft.com/office/powerpoint/2010/main" val="2123142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5E17D-9617-4FA8-8BC1-6BC77CB5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defRPr>
            </a:pPr>
            <a:r>
              <a:rPr sz="3975" b="0" i="0">
                <a:solidFill>
                  <a:srgbClr val="17151D"/>
                </a:solidFill>
                <a:latin typeface="Georgia"/>
                <a:ea typeface="Georgia"/>
                <a:cs typeface="Georgia"/>
              </a:rPr>
              <a:t>HACKSPIRE |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1848F-5A1C-49BB-BD48-94B7D77A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D7CDD-C794-449D-8C82-5B5628E4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16176-0F31-4FD3-94D0-1FAC25B2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C7CD7-0C52-40E0-8D05-04928F0C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5544E-E42D-481D-960D-6A38ED41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200025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B6173-8F10-47BA-9E18-7E6BC1D6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319087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D0A6F-CBBD-41FD-8A50-00583BE9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575" y="5905500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600C4-6CC6-4B92-B9FD-D746B62E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7935575" y="7096125"/>
            <a:ext cx="23812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EEA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B46A2-577D-4E14-B1C4-2445E947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39300"/>
            <a:ext cx="18288000" cy="647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0033"/>
              </a:gs>
              <a:gs pos="50000">
                <a:srgbClr val="6A18FF"/>
              </a:gs>
              <a:gs pos="100000">
                <a:srgbClr val="21004A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71343-9537-4E13-92AF-CA50C93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6964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hackspire.tech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B9CCC-355B-4C58-83A9-D90A0AB5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6964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26C9A-F522-4911-AA21-F42A88B4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66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02027"/>
          </a:solidFill>
          <a:ln xmlns:a="http://schemas.openxmlformats.org/drawingml/2006/main" w="9525">
            <a:solidFill>
              <a:srgbClr val="20202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eac7d27c24d72"/>
          <a:stretch xmlns:a="http://schemas.openxmlformats.org/drawingml/2006/main"/>
        </p:blipFill>
        <p:spPr>
          <a:xfrm xmlns:a="http://schemas.openxmlformats.org/drawingml/2006/main">
            <a:off x="704850" y="3143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B6112-F849-4CDE-A5AD-23E106F7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7151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151D"/>
                </a:solidFill>
                <a:latin typeface="Aptos"/>
                <a:ea typeface="Aptos"/>
                <a:cs typeface="Aptos"/>
              </a:rPr>
              <a:t>CLASHPOINT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D826F-8254-470E-923F-0B87070E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81125"/>
            <a:ext cx="1533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defRPr>
            </a:pPr>
            <a:r>
              <a:rPr sz="4875" b="0" i="0">
                <a:solidFill>
                  <a:srgbClr val="35128F"/>
                </a:solidFill>
                <a:latin typeface="Georgia"/>
                <a:ea typeface="Georgia"/>
                <a:cs typeface="Georgia"/>
              </a:rPr>
              <a:t>RESEARCH AND REFERENCES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1143000" y="2714625"/>
          <a:ext xmlns:a="http://schemas.openxmlformats.org/drawingml/2006/main" cx="160020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6667500"/>
                <a:gridCol w="619125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3512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REFERENCE</a:t>
                      </a:r>
                    </a:p>
                  </a:txBody>
                  <a:tcPr marL="91440" marR="91440" marT="45720" marB="45720" anchor="ctr">
                    <a:solidFill>
                      <a:srgbClr val="3512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RELEVANCE</a:t>
                      </a:r>
                    </a:p>
                  </a:txBody>
                  <a:tcPr marL="91440" marR="91440" marT="45720" marB="45720" anchor="ctr">
                    <a:solidFill>
                      <a:srgbClr val="35128F"/>
                    </a:solidFill>
                  </a:tcPr>
                </a:tc>
              </a:tr>
              <a:tr h="1171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17151D"/>
                          </a:solidFill>
                          <a:latin typeface="Aptos"/>
                          <a:ea typeface="Aptos"/>
                          <a:cs typeface="Aptos"/>
                        </a:rPr>
                        <a:t>Conversation design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0" u="sng">
                          <a:solidFill>
                            <a:srgbClr val="35128F"/>
                          </a:solidFill>
                          <a:latin typeface="Aptos"/>
                          <a:ea typeface="Aptos"/>
                          <a:cs typeface="Aptos"/>
                          <a:hlinkClick xmlns:r="http://schemas.openxmlformats.org/officeDocument/2006/relationships" r:id="R1c8bfa4037794469"/>
                        </a:rPr>
                        <a:t>Clark &amp; Brennan, Grounding in Communication (1991)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7151D"/>
                          </a:solidFill>
                          <a:latin typeface="Aptos"/>
                          <a:ea typeface="Aptos"/>
                          <a:cs typeface="Aptos"/>
                        </a:rPr>
                        <a:t>Conceptual background on conversational grounding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17151D"/>
                          </a:solidFill>
                          <a:latin typeface="Aptos"/>
                          <a:ea typeface="Aptos"/>
                          <a:cs typeface="Aptos"/>
                        </a:rPr>
                        <a:t>Browser input</a:t>
                      </a:r>
                    </a:p>
                  </a:txBody>
                  <a:tcPr marL="91440" marR="91440" marT="45720" marB="45720" anchor="ctr">
                    <a:solidFill>
                      <a:srgbClr val="FAF9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0" u="sng">
                          <a:solidFill>
                            <a:srgbClr val="35128F"/>
                          </a:solidFill>
                          <a:latin typeface="Aptos"/>
                          <a:ea typeface="Aptos"/>
                          <a:cs typeface="Aptos"/>
                          <a:hlinkClick xmlns:r="http://schemas.openxmlformats.org/officeDocument/2006/relationships" r:id="Rfd5f66dc5c8a4951"/>
                        </a:rPr>
                        <a:t>MDN, SpeechRecognition</a:t>
                      </a:r>
                    </a:p>
                  </a:txBody>
                  <a:tcPr marL="91440" marR="91440" marT="45720" marB="45720" anchor="ctr">
                    <a:solidFill>
                      <a:srgbClr val="FAF9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7151D"/>
                          </a:solidFill>
                          <a:latin typeface="Aptos"/>
                          <a:ea typeface="Aptos"/>
                          <a:cs typeface="Aptos"/>
                        </a:rPr>
                        <a:t>Browser support and recognition-service limitations</a:t>
                      </a:r>
                    </a:p>
                  </a:txBody>
                  <a:tcPr marL="91440" marR="91440" marT="45720" marB="45720" anchor="ctr">
                    <a:solidFill>
                      <a:srgbClr val="FAF9FC"/>
                    </a:solidFill>
                  </a:tcPr>
                </a:tc>
              </a:tr>
              <a:tr h="1171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17151D"/>
                          </a:solidFill>
                          <a:latin typeface="Aptos"/>
                          <a:ea typeface="Aptos"/>
                          <a:cs typeface="Aptos"/>
                        </a:rPr>
                        <a:t>Server architecture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0" u="sng">
                          <a:solidFill>
                            <a:srgbClr val="35128F"/>
                          </a:solidFill>
                          <a:latin typeface="Aptos"/>
                          <a:ea typeface="Aptos"/>
                          <a:cs typeface="Aptos"/>
                          <a:hlinkClick xmlns:r="http://schemas.openxmlformats.org/officeDocument/2006/relationships" r:id="Ra8648a19019b4812"/>
                        </a:rPr>
                        <a:t>Next.js, Route Handlers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7151D"/>
                          </a:solidFill>
                          <a:latin typeface="Aptos"/>
                          <a:ea typeface="Aptos"/>
                          <a:cs typeface="Aptos"/>
                        </a:rPr>
                        <a:t>Request handling used by the prototype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71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17151D"/>
                          </a:solidFill>
                          <a:latin typeface="Aptos"/>
                          <a:ea typeface="Aptos"/>
                          <a:cs typeface="Aptos"/>
                        </a:rPr>
                        <a:t>Prototype evidence</a:t>
                      </a:r>
                    </a:p>
                  </a:txBody>
                  <a:tcPr marL="91440" marR="91440" marT="45720" marB="45720" anchor="ctr">
                    <a:solidFill>
                      <a:srgbClr val="FAF9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0" u="sng">
                          <a:solidFill>
                            <a:srgbClr val="35128F"/>
                          </a:solidFill>
                          <a:latin typeface="Aptos"/>
                          <a:ea typeface="Aptos"/>
                          <a:cs typeface="Aptos"/>
                          <a:hlinkClick xmlns:r="http://schemas.openxmlformats.org/officeDocument/2006/relationships" r:id="R5a9b0d85a2604f2f"/>
                        </a:rPr>
                        <a:t>ClashPoint repository, commit d3db372</a:t>
                      </a:r>
                    </a:p>
                  </a:txBody>
                  <a:tcPr marL="91440" marR="91440" marT="45720" marB="45720" anchor="ctr">
                    <a:solidFill>
                      <a:srgbClr val="FAF9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17151D"/>
                          </a:solidFill>
                          <a:latin typeface="Aptos"/>
                          <a:ea typeface="Aptos"/>
                          <a:cs typeface="Aptos"/>
                        </a:rPr>
                        <a:t>Implementation, fixtures, and automated tests</a:t>
                      </a:r>
                    </a:p>
                  </a:txBody>
                  <a:tcPr marL="91440" marR="91440" marT="45720" marB="45720" anchor="ctr">
                    <a:solidFill>
                      <a:srgbClr val="FAF9FC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F5965-DE6E-4C11-999F-B4BE101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34375"/>
            <a:ext cx="16002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AF9FC"/>
          </a:solidFill>
          <a:ln xmlns:a="http://schemas.openxmlformats.org/drawingml/2006/main" w="9525">
            <a:solidFill>
              <a:srgbClr val="D9D3E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1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650" b="0" i="1">
                <a:solidFill>
                  <a:srgbClr val="6D6878"/>
                </a:solidFill>
                <a:latin typeface="Aptos"/>
                <a:ea typeface="Aptos"/>
                <a:cs typeface="Aptos"/>
              </a:rPr>
              <a:t>Prototype evidence uses development fixtures. Business benefits have not been measured in a pilot.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 i="1">
                <a:solidFill>
                  <a:srgbClr val="6D6878"/>
                </a:solidFill>
                <a:latin typeface="Aptos"/>
                <a:ea typeface="Aptos"/>
                <a:cs typeface="Aptos"/>
              </a:defRPr>
            </a:pPr>
            <a:r>
              <a:rPr sz="1650" b="0" i="1">
                <a:solidFill>
                  <a:srgbClr val="6D6878"/>
                </a:solidFill>
                <a:latin typeface="Aptos"/>
                <a:ea typeface="Aptos"/>
                <a:cs typeface="Aptos"/>
              </a:rPr>
              <a:t>Repository link is private and is not a public judge demo.</a:t>
            </a:r>
          </a:p>
        </p:txBody>
      </p:sp>
    </p:spTree>
    <p:extLst>
      <p:ext uri="{BB962C8B-B14F-4D97-AF65-F5344CB8AC3E}">
        <p14:creationId xmlns:p14="http://schemas.microsoft.com/office/powerpoint/2010/main" val="2029193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2026-09-21T10:55:26.4540000Z</dcterms:created>
  <dcterms:modified xsi:type="dcterms:W3CDTF">2026-09-21T10:55:26.4540000Z</dcterms:modified>
</coreProperties>
</file>